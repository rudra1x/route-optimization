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Epilogue" panose="020B0604020202020204" charset="0"/>
      <p:regular r:id="rId13"/>
    </p:embeddedFont>
    <p:embeddedFont>
      <p:font typeface="Fraunces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87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Classical Solution for Real-World Supply Chain Route Optimization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step-by-step guide using Python and Google OR-Tools to solve complex routing problems with real-world constraints.</a:t>
            </a:r>
            <a:endParaRPr lang="en-US" sz="17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2BF1E2-8274-F477-C9EE-1F5084DF3662}"/>
              </a:ext>
            </a:extLst>
          </p:cNvPr>
          <p:cNvSpPr/>
          <p:nvPr/>
        </p:nvSpPr>
        <p:spPr>
          <a:xfrm>
            <a:off x="12754466" y="7701699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project develops and compares classical and quantum solutions for real-world supply chain route optimization. The first phase creates a robust classical benchmark using Google's OR-Tools library.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01308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solution serves as the definitive baseline for evaluating future quantum algorithms against industry-standard optimization techniques.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C4E340-9780-5F3F-EC86-A59479D1A68E}"/>
              </a:ext>
            </a:extLst>
          </p:cNvPr>
          <p:cNvSpPr/>
          <p:nvPr/>
        </p:nvSpPr>
        <p:spPr>
          <a:xfrm>
            <a:off x="12763893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772954"/>
            <a:ext cx="6015395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CVRPTW Problem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68191" y="1546622"/>
            <a:ext cx="7529393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Capacitated Vehicle Routing Problem with Time Windows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768191" y="2218849"/>
            <a:ext cx="3694033" cy="2860358"/>
          </a:xfrm>
          <a:prstGeom prst="roundRect">
            <a:avLst>
              <a:gd name="adj" fmla="val 322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5243" y="2445901"/>
            <a:ext cx="658416" cy="658416"/>
          </a:xfrm>
          <a:prstGeom prst="roundRect">
            <a:avLst>
              <a:gd name="adj" fmla="val 13886488"/>
            </a:avLst>
          </a:prstGeom>
          <a:solidFill>
            <a:srgbClr val="8C98C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6338" y="2626876"/>
            <a:ext cx="296228" cy="2962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5243" y="3323749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Single Depot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995243" y="3798451"/>
            <a:ext cx="3239929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Central warehouse where all vehicles start and end routes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681657" y="2218849"/>
            <a:ext cx="3694152" cy="2860358"/>
          </a:xfrm>
          <a:prstGeom prst="roundRect">
            <a:avLst>
              <a:gd name="adj" fmla="val 322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08709" y="2445901"/>
            <a:ext cx="658416" cy="658416"/>
          </a:xfrm>
          <a:prstGeom prst="roundRect">
            <a:avLst>
              <a:gd name="adj" fmla="val 13886488"/>
            </a:avLst>
          </a:prstGeom>
          <a:solidFill>
            <a:srgbClr val="8C98C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9803" y="2626876"/>
            <a:ext cx="296228" cy="2962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08709" y="3323749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 Customers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4908709" y="3798451"/>
            <a:ext cx="3240048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Locations to be served, each with specific demand for goods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68191" y="5298638"/>
            <a:ext cx="7607618" cy="2157889"/>
          </a:xfrm>
          <a:prstGeom prst="roundRect">
            <a:avLst>
              <a:gd name="adj" fmla="val 427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95243" y="5525691"/>
            <a:ext cx="658416" cy="658416"/>
          </a:xfrm>
          <a:prstGeom prst="roundRect">
            <a:avLst>
              <a:gd name="adj" fmla="val 13886488"/>
            </a:avLst>
          </a:prstGeom>
          <a:solidFill>
            <a:srgbClr val="8C98C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338" y="5706666"/>
            <a:ext cx="296228" cy="2962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5243" y="6403538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 Vehicles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995243" y="6878241"/>
            <a:ext cx="715351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Fleet with known maximum cargo capacity</a:t>
            </a:r>
            <a:endParaRPr lang="en-US" sz="17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9755D2-A28D-71C3-BEA2-07FD08B1B940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6652260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Constraints &amp;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2361" y="1782842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2361" y="2137053"/>
            <a:ext cx="6409611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792361" y="2311122"/>
            <a:ext cx="3255764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Minimize Total Distance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2361" y="2800588"/>
            <a:ext cx="640961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Find routes that minimize total distance traveled by all vehicles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309" y="1782842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309" y="2137053"/>
            <a:ext cx="6409730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7428309" y="2311122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Complete Service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309" y="2800588"/>
            <a:ext cx="64097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Every customer visited exactly once by one vehicle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2361" y="3921323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2361" y="4275534"/>
            <a:ext cx="6409611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792361" y="4449604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Depot Return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2361" y="4939070"/>
            <a:ext cx="640961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routes start and end at the depot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309" y="3921323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309" y="4275534"/>
            <a:ext cx="6409730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309" y="4449604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Capacity Constraint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309" y="4939070"/>
            <a:ext cx="64097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demand per route cannot exceed vehicle capacity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2361" y="5697498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2361" y="6051709"/>
            <a:ext cx="6409611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1" name="Text 19"/>
          <p:cNvSpPr/>
          <p:nvPr/>
        </p:nvSpPr>
        <p:spPr>
          <a:xfrm>
            <a:off x="792361" y="6225778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Time Windows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2361" y="6715244"/>
            <a:ext cx="640961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Customers served within specified time windows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309" y="5697498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309" y="6051709"/>
            <a:ext cx="6409730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309" y="6225778"/>
            <a:ext cx="3450550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Service &amp; Operating Time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309" y="6715244"/>
            <a:ext cx="640973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Fixed unloading time and maximum vehicle operating hours</a:t>
            </a:r>
            <a:endParaRPr lang="en-US" sz="175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DE4B491-1032-ABC8-2F1A-F9A140EB9AF9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338" y="481132"/>
            <a:ext cx="8655368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Real-World Scenario: New Delhi Logistics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2338" y="1465183"/>
            <a:ext cx="2187297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Setup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12338" y="1913453"/>
            <a:ext cx="64893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Depot: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Connaught Place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2338" y="2254687"/>
            <a:ext cx="64893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Customers: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10 landmarks across the city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338" y="2595920"/>
            <a:ext cx="64893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Vehicles: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3 trucks, each with 15-unit capacity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338" y="2937153"/>
            <a:ext cx="648938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Operating Hours: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8:00 AM - 5:00 PM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299" y="1487091"/>
            <a:ext cx="6489383" cy="64893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338" y="8370094"/>
            <a:ext cx="1340572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Using actual locations in New Delhi, India to create a realistic optimization scenario that mirrors real-world logistics challenges.</a:t>
            </a:r>
            <a:endParaRPr lang="en-US" sz="135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7AFA82-5930-83A9-38F7-1DFFE34DF1D7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9799"/>
            <a:ext cx="86852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Locations &amp; Demands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2206"/>
            <a:ext cx="13042821" cy="4567476"/>
          </a:xfrm>
          <a:prstGeom prst="roundRect">
            <a:avLst>
              <a:gd name="adj" fmla="val 208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1982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56353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563535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Coordinates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197334" y="2563535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Demand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56353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Time Window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21385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India Gate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213854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28.6129, 77.2295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197334" y="321385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 unit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21385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9:00-10:00 AM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386417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 Fort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386417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28.6562, 77.2410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197334" y="386417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 unit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386417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11:00 AM-12:00 PM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51449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Qutub Minar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51449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28.5245, 77.1855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197334" y="451449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 units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51449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1:00-2:00 PM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16481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Lotus Temple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164812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28.5535, 77.2588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8197334" y="516481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 units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16481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1:00-2:00 PM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462" y="581513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Khan Market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4289108" y="5815132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28.5940, 77.2225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8197334" y="581513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 units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802779" y="581513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9:00-10:00 AM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801410" y="632174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28462" y="646545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Akshardham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4289108" y="6465451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28.4744, 77.5026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8197334" y="646545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 units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10802779" y="646545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12:00-1:00 PM</a:t>
            </a:r>
            <a:endParaRPr lang="en-US" sz="175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BAAF3C5-4C7B-FA20-4D84-CB337480E426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587"/>
            <a:ext cx="6353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Haversine Formula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85092"/>
            <a:ext cx="45441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Calculating Real-World Distances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3795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Haversine formula accounts for Earth's curvature to calculate accurate distances between geographic coordinates.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60539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494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Step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98502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 intermediate value </a:t>
            </a:r>
            <a:r>
              <a:rPr lang="en-US" sz="175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0604" y="5634990"/>
            <a:ext cx="3893939" cy="148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634990"/>
            <a:ext cx="3893939" cy="148209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3360539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8171" y="4494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Step 2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368171" y="498502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 intermediate value </a:t>
            </a:r>
            <a:r>
              <a:rPr lang="en-US" sz="175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5368171" y="5634990"/>
            <a:ext cx="3893939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171" y="5634990"/>
            <a:ext cx="3893939" cy="393621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8924" y="3360539"/>
            <a:ext cx="4347567" cy="9072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15738" y="4494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Step 3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9715738" y="498502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 final distance </a:t>
            </a:r>
            <a:r>
              <a:rPr lang="en-US" sz="175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9715738" y="5634990"/>
            <a:ext cx="3893939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738" y="5634990"/>
            <a:ext cx="3893939" cy="3932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715738" y="6315313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Where R ≈ 6,371 km (Earth's radius)</a:t>
            </a:r>
            <a:endParaRPr lang="en-US" sz="17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F5D8B9-8298-CD88-B202-EF1D68BD5C6F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305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Solution Outputs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Console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10207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Detailed route for each vehicle with order of stops, cumulative load, and precise arrival times ensuring all time windows are respected.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456884" y="4019788"/>
            <a:ext cx="30599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Interactive HTML 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56884" y="4510207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Visual display of optimized routes on a map of New Delhi (delhi_routes_map_final.html), showing the complete delivery network.</a:t>
            </a:r>
            <a:endParaRPr lang="en-US" sz="175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9FCD1E-C2F6-516A-928E-DDA4411D0F51}"/>
              </a:ext>
            </a:extLst>
          </p:cNvPr>
          <p:cNvSpPr/>
          <p:nvPr/>
        </p:nvSpPr>
        <p:spPr>
          <a:xfrm>
            <a:off x="12763893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Optimized Route Visualization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map displays three optimized vehicle routes across New Delhi, each color-coded to show efficient paths that respect capacity constraints, time windows, and minimize total distance traveled.</a:t>
            </a:r>
            <a:endParaRPr lang="en-US" sz="17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0E6492-39E2-701F-C856-A1E08A7C5B21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922" y="721638"/>
            <a:ext cx="5479018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Results and Next Steps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10922" y="1864162"/>
            <a:ext cx="3367207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Classical Solution Complete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10922" y="2384703"/>
            <a:ext cx="6356509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optimized solution is verifiable and respects all complex, real-world constraints. It forms the perfect, high-quality benchmark for the next phase.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15603" y="3587948"/>
            <a:ext cx="605182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definitive baseline for quantum algorithm evaluation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0922" y="3587948"/>
            <a:ext cx="22860" cy="324922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7" name="Text 5"/>
          <p:cNvSpPr/>
          <p:nvPr/>
        </p:nvSpPr>
        <p:spPr>
          <a:xfrm>
            <a:off x="7570589" y="1991082"/>
            <a:ext cx="3051334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7826692" y="2915245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Vehicles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70589" y="3435787"/>
            <a:ext cx="3051334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Optimized fleet deployment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875764" y="1991082"/>
            <a:ext cx="3051334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10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11131868" y="2915245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875764" y="3435787"/>
            <a:ext cx="3051334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served within time windows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223177" y="4268510"/>
            <a:ext cx="3051334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100%</a:t>
            </a:r>
            <a:endParaRPr lang="en-US" sz="5250" dirty="0"/>
          </a:p>
        </p:txBody>
      </p:sp>
      <p:sp>
        <p:nvSpPr>
          <p:cNvPr id="14" name="Text 12"/>
          <p:cNvSpPr/>
          <p:nvPr/>
        </p:nvSpPr>
        <p:spPr>
          <a:xfrm>
            <a:off x="9479280" y="5192673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Constraints Met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223177" y="5713214"/>
            <a:ext cx="3051334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Capacity and time respected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0922" y="6596600"/>
            <a:ext cx="13208556" cy="32980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0922" y="6858000"/>
            <a:ext cx="13208556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Next phase: Tackling the same problem with quantum computing algorithms to compare performance against this classical benchmark.</a:t>
            </a:r>
            <a:endParaRPr lang="en-US" sz="15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6AB4A1-C360-22AA-52B7-70B372AC291D}"/>
              </a:ext>
            </a:extLst>
          </p:cNvPr>
          <p:cNvSpPr/>
          <p:nvPr/>
        </p:nvSpPr>
        <p:spPr>
          <a:xfrm>
            <a:off x="12754466" y="7692272"/>
            <a:ext cx="1762813" cy="405353"/>
          </a:xfrm>
          <a:prstGeom prst="roundRect">
            <a:avLst>
              <a:gd name="adj" fmla="val 66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AION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555</Words>
  <Application>Microsoft Office PowerPoint</Application>
  <PresentationFormat>Custom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Fraunces Light</vt:lpstr>
      <vt:lpstr>Arial</vt:lpstr>
      <vt:lpstr>Fraunces Medium</vt:lpstr>
      <vt:lpstr>Epilogue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Rudraksh Sharma</cp:lastModifiedBy>
  <cp:revision>2</cp:revision>
  <dcterms:created xsi:type="dcterms:W3CDTF">2025-10-18T13:28:54Z</dcterms:created>
  <dcterms:modified xsi:type="dcterms:W3CDTF">2025-10-18T13:31:24Z</dcterms:modified>
</cp:coreProperties>
</file>